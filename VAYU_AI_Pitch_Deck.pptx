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VAYU·AI. Start with the human cost — 1.67M deaths a year from air pollution. Then state the core insight: the data exists across 900+ stations but the intelligence layer to act on it does not. VAYU·AI is that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not data absence — it's intelligence absence. 900 stations produce data. But there's no unified layer that fuses it, attributes sources, predicts forward, and tells inspectors where to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VAYU·AI has four layers: ingest data, process it with AI, run intelligence agents, deliver to dashboard and enforcement teams. End to end in under 2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agents work together: source attribution, forecasting, enforcement, health advisory via Claude, and multi-city benchmarking. Each adds a layer of intelligence the current system doesn't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prototype running on localhost:3000. Show each tab during the demo — Overview, Forecast, Sources, Enforcement. Then click Generate Advisory to show Claude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is deliberately lean — React frontend, FastAPI backend, Claude for LLM. Everything open-source or free tier. Can be deployed on AWS or Azure with minimal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impact is the biggest judging criteria at 25%. Lead with the 1.67M deaths number. Then show three stakeholder groups — administrators, citizens, and government — all served by one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 is 15% of the score. Show the four phases clearly — we're at Phase 1 today but the architecture is designed for national scale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judging criteria. We score 4-5 stars on all five. The key differentiator is that we built a working prototype — not slides about a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core message. Thank the judges. Offer to demo the live dashboard. Mention your BSNL internship on IoT Air Quality Monitoring — you built the hardware version, and VAYU·AI is the AI intelligence layer on top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3300">
              <a:alpha val="40000"/>
            </a:srgbClr>
          </a:solidFill>
          <a:ln w="12700">
            <a:solidFill>
              <a:srgbClr val="050D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64592" cy="16459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50D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280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VAYU·AI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1430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URBAN AIR QUALITY INTELLIGENCE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0" y="2514600"/>
            <a:ext cx="6858000" cy="0"/>
          </a:xfrm>
          <a:prstGeom prst="line">
            <a:avLst/>
          </a:prstGeom>
          <a:noFill/>
          <a:ln w="6350">
            <a:solidFill>
              <a:srgbClr val="4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517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platform fusing CPCB monitoring, satellite imagery &amp; LLM intelligence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city administrators from reactive monitoring to proactive intervention.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3566160"/>
            <a:ext cx="1737360" cy="1005840"/>
          </a:xfrm>
          <a:prstGeom prst="roundRect">
            <a:avLst>
              <a:gd name="adj" fmla="val 4545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3611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40416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Deaths/yr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63240" y="3566160"/>
            <a:ext cx="1737360" cy="1005840"/>
          </a:xfrm>
          <a:prstGeom prst="roundRect">
            <a:avLst>
              <a:gd name="adj" fmla="val 4545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3611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63240" y="40416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CAAQMS stations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83480" y="3566160"/>
            <a:ext cx="1737360" cy="1005840"/>
          </a:xfrm>
          <a:prstGeom prst="roundRect">
            <a:avLst>
              <a:gd name="adj" fmla="val 4545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3611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83480" y="40416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with 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response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03720" y="3566160"/>
            <a:ext cx="1737360" cy="1005840"/>
          </a:xfrm>
          <a:prstGeom prst="roundRect">
            <a:avLst>
              <a:gd name="adj" fmla="val 4545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3611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50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40416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polluted cities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Tier 1 or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AI HACKATHON 2026  ·  PROBLEM STATEMENT 5  ·  KASANAGOTTU SNEHITH  ·  IARE HYDERABAD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exists. Intelligence does not.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Data Without 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8562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900+ CAAQMS stations under NCAP — yet only 31% of cities with monitoring data have any actionable multi-agency response protocols.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National Urban Crisis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8562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AQI averaged 218 for 200+ days. Mumbai, Kolkata, Bengaluru all deteriorating. 24 of India's 50 most polluted cities are Tier 1 or 2.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Public Health Burden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4787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Lancet estimates 1.67 million premature deaths annually from air pollution in India — disproportionately affecting urban populations.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4114800" cy="1463040"/>
          </a:xfrm>
          <a:prstGeom prst="roundRect">
            <a:avLst>
              <a:gd name="adj" fmla="val 3750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Missing Intelligence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54787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administrators need source attribution, hyperlocal forecasting, and enforcement intelligence — not just dashboards. This combination does not exist today.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CPCB · CAG Audit 2024 · Lancet Planetary Health · NCAP Dashboard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VAYU·AI: One Intelligence Layer for Everything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920240" cy="3200400"/>
          </a:xfrm>
          <a:prstGeom prst="roundRect">
            <a:avLst>
              <a:gd name="adj" fmla="val 2857"/>
            </a:avLst>
          </a:prstGeom>
          <a:solidFill>
            <a:srgbClr val="0A160A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810512"/>
            <a:ext cx="1645920" cy="0"/>
          </a:xfrm>
          <a:prstGeom prst="line">
            <a:avLst/>
          </a:prstGeom>
          <a:noFill/>
          <a:ln w="6350">
            <a:solidFill>
              <a:srgbClr val="00C85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019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CPCB CAAQMS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Sentinel-5P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8529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IMD Weather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32841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Traffic APIs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8039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Land Use GIS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94560" y="3017520"/>
            <a:ext cx="256032" cy="0"/>
          </a:xfrm>
          <a:prstGeom prst="line">
            <a:avLst/>
          </a:prstGeom>
          <a:noFill/>
          <a:ln w="1905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29443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8880" y="1417320"/>
            <a:ext cx="1920240" cy="3200400"/>
          </a:xfrm>
          <a:prstGeom prst="roundRect">
            <a:avLst>
              <a:gd name="adj" fmla="val 2857"/>
            </a:avLst>
          </a:prstGeom>
          <a:solidFill>
            <a:srgbClr val="0A160A"/>
          </a:solidFill>
          <a:ln w="12700">
            <a:solidFill>
              <a:srgbClr val="40C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0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PROCESSING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06040" y="1810512"/>
            <a:ext cx="1645920" cy="0"/>
          </a:xfrm>
          <a:prstGeom prst="line">
            <a:avLst/>
          </a:prstGeom>
          <a:noFill/>
          <a:ln w="6350">
            <a:solidFill>
              <a:srgbClr val="40C4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9019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Fusion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LSTM Forecast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28529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Source Attribution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332841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Geospatial AI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38039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 LLM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0" y="3017520"/>
            <a:ext cx="256032" cy="0"/>
          </a:xfrm>
          <a:prstGeom prst="line">
            <a:avLst/>
          </a:prstGeom>
          <a:noFill/>
          <a:ln w="19050">
            <a:solidFill>
              <a:srgbClr val="00C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29443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1417320"/>
            <a:ext cx="1920240" cy="3200400"/>
          </a:xfrm>
          <a:prstGeom prst="roundRect">
            <a:avLst>
              <a:gd name="adj" fmla="val 2857"/>
            </a:avLst>
          </a:prstGeom>
          <a:solidFill>
            <a:srgbClr val="0A160A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00600" y="1810512"/>
            <a:ext cx="1645920" cy="0"/>
          </a:xfrm>
          <a:prstGeom prst="line">
            <a:avLst/>
          </a:prstGeom>
          <a:noFill/>
          <a:ln w="6350">
            <a:solidFill>
              <a:srgbClr val="CE93D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9019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Pollution Agent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Forecast Agent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8529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Enforcement Agent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332841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Health Advisor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8039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City Comparator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0" y="3017520"/>
            <a:ext cx="256032" cy="0"/>
          </a:xfrm>
          <a:prstGeom prst="line">
            <a:avLst/>
          </a:prstGeom>
          <a:noFill/>
          <a:ln w="19050">
            <a:solidFill>
              <a:srgbClr val="00C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84848" y="29443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58000" y="1417320"/>
            <a:ext cx="1920240" cy="3200400"/>
          </a:xfrm>
          <a:prstGeom prst="roundRect">
            <a:avLst>
              <a:gd name="adj" fmla="val 2857"/>
            </a:avLst>
          </a:prstGeom>
          <a:solidFill>
            <a:srgbClr val="0A160A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5800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995160" y="1810512"/>
            <a:ext cx="1645920" cy="0"/>
          </a:xfrm>
          <a:prstGeom prst="line">
            <a:avLst/>
          </a:prstGeom>
          <a:noFill/>
          <a:ln w="635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19019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React Dashboard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49440" y="2377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FastAPI Backend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49440" y="28529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Enforcement Reports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49440" y="332841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Citizen Alerts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49440" y="38039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Analytics Store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sensor data to enforcement action in under 2 seconds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AI Agents. One Mission.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046720" cy="1005840"/>
          </a:xfrm>
          <a:prstGeom prst="roundRect">
            <a:avLst>
              <a:gd name="adj" fmla="val 4545"/>
            </a:avLst>
          </a:prstGeom>
          <a:solidFill>
            <a:srgbClr val="0A160A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01  Source Attribution Engine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pollution by source category at ward level — Vehicle 34%, Industrial 28%, Construction 19%, Biomass 12% — with 87% confidence using satellite + traffic + permit data.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8046720" cy="1005840"/>
          </a:xfrm>
          <a:prstGeom prst="roundRect">
            <a:avLst>
              <a:gd name="adj" fmla="val 4545"/>
            </a:avLst>
          </a:prstGeom>
          <a:solidFill>
            <a:srgbClr val="0A160A"/>
          </a:solidFill>
          <a:ln w="10160">
            <a:solidFill>
              <a:srgbClr val="40C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606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02  Hyperlocal AQI Forecasting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6207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 delivers 24–72 hour AQI forecasts at 1km grid resolution. Enables pre-emptive intervention scheduling before threshold breach.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8046720" cy="1005840"/>
          </a:xfrm>
          <a:prstGeom prst="roundRect">
            <a:avLst>
              <a:gd name="adj" fmla="val 4545"/>
            </a:avLst>
          </a:prstGeom>
          <a:solidFill>
            <a:srgbClr val="0A160A"/>
          </a:solidFill>
          <a:ln w="1016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749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03  Enforcement Intelligence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pollution hotspots with registered emission sources. Generates geo-tagged, evidence-backed enforcement action packages for inspectors.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651760" cy="1005840"/>
          </a:xfrm>
          <a:prstGeom prst="roundRect">
            <a:avLst>
              <a:gd name="adj" fmla="val 4545"/>
            </a:avLst>
          </a:prstGeom>
          <a:solidFill>
            <a:srgbClr val="0A160A"/>
          </a:solidFill>
          <a:ln w="1016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04  AI Health Advisory (Claude)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719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Sonnet 4.6 generates ward-level health risk advisories in 12 Indian languages — personalized for vulnerable populations.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1005840"/>
          </a:xfrm>
          <a:prstGeom prst="roundRect">
            <a:avLst>
              <a:gd name="adj" fmla="val 4545"/>
            </a:avLst>
          </a:prstGeom>
          <a:solidFill>
            <a:srgbClr val="0A160A"/>
          </a:solidFill>
          <a:ln w="1016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463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05  Multi-City Intelligence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71907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and compares intervention effectiveness across 50+ cities. Administrators learn from what worked in comparable cities before acting.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PROTOTYPE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VAYU·AI Dashboard — Running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3474720"/>
          </a:xfrm>
          <a:prstGeom prst="roundRect">
            <a:avLst>
              <a:gd name="adj" fmla="val 2105"/>
            </a:avLst>
          </a:prstGeom>
          <a:solidFill>
            <a:srgbClr val="0A160A"/>
          </a:solidFill>
          <a:ln w="1016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0F1F0F"/>
          </a:solidFill>
          <a:ln w="12700">
            <a:solidFill>
              <a:srgbClr val="4A7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10972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44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VAYU·AI  ·  URBAN AIR INTELLIGENCE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1344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NCAP COMPLIANT  ·  CPCB INTEGRATED  ·  10:27:45 IST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060F06"/>
          </a:solidFill>
          <a:ln w="3810">
            <a:solidFill>
              <a:srgbClr val="4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0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Monitored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578608" y="178308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060F06"/>
          </a:solidFill>
          <a:ln w="3810">
            <a:solidFill>
              <a:srgbClr val="4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810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78608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National AQI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654296" y="178308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060F06"/>
          </a:solidFill>
          <a:ln w="3810">
            <a:solidFill>
              <a:srgbClr val="4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810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1.2Cr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54296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At-Risk Population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729984" y="1783080"/>
            <a:ext cx="1920240" cy="685800"/>
          </a:xfrm>
          <a:prstGeom prst="roundRect">
            <a:avLst>
              <a:gd name="adj" fmla="val 5333"/>
            </a:avLst>
          </a:prstGeom>
          <a:solidFill>
            <a:srgbClr val="060F06"/>
          </a:solidFill>
          <a:ln w="3810">
            <a:solidFill>
              <a:srgbClr val="4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8105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9984" y="2148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Alerts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2578608"/>
            <a:ext cx="1645920" cy="2011680"/>
          </a:xfrm>
          <a:prstGeom prst="roundRect">
            <a:avLst>
              <a:gd name="adj" fmla="val 2222"/>
            </a:avLst>
          </a:prstGeom>
          <a:solidFill>
            <a:srgbClr val="060F06"/>
          </a:solidFill>
          <a:ln w="3810">
            <a:solidFill>
              <a:srgbClr val="4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06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— LIVE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48640" y="28346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17320" y="2834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1638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17320" y="316382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4930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17320" y="349300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8221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17320" y="38221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1513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17320" y="41513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0" y="2578608"/>
            <a:ext cx="6400800" cy="2011680"/>
          </a:xfrm>
          <a:prstGeom prst="roundRect">
            <a:avLst>
              <a:gd name="adj" fmla="val 1818"/>
            </a:avLst>
          </a:prstGeom>
          <a:solidFill>
            <a:srgbClr val="060F06"/>
          </a:solidFill>
          <a:ln w="3810">
            <a:solidFill>
              <a:srgbClr val="4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2606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COMPARISON — AQI INDEX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331720" y="28346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91840" y="2852928"/>
            <a:ext cx="4385462" cy="164592"/>
          </a:xfrm>
          <a:prstGeom prst="roundRect">
            <a:avLst>
              <a:gd name="adj" fmla="val 11111"/>
            </a:avLst>
          </a:prstGeom>
          <a:solidFill>
            <a:srgbClr val="DD2C00"/>
          </a:solidFill>
          <a:ln w="12700">
            <a:solidFill>
              <a:srgbClr val="DD2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95590" y="28346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D2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218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331720" y="311810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91840" y="3136392"/>
            <a:ext cx="3500323" cy="164592"/>
          </a:xfrm>
          <a:prstGeom prst="roundRect">
            <a:avLst>
              <a:gd name="adj" fmla="val 11111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0451" y="31181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174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331720" y="340156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91840" y="3419856"/>
            <a:ext cx="3258922" cy="164592"/>
          </a:xfrm>
          <a:prstGeom prst="roundRect">
            <a:avLst>
              <a:gd name="adj" fmla="val 11111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9050" y="34015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162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331720" y="36850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91840" y="3703320"/>
            <a:ext cx="3138221" cy="164592"/>
          </a:xfrm>
          <a:prstGeom prst="roundRect">
            <a:avLst>
              <a:gd name="adj" fmla="val 11111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8349" y="3685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331720" y="396849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91840" y="3986784"/>
            <a:ext cx="2695651" cy="164592"/>
          </a:xfrm>
          <a:prstGeom prst="roundRect">
            <a:avLst>
              <a:gd name="adj" fmla="val 11111"/>
            </a:avLst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05779" y="396849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134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331720" y="42519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91840" y="4270248"/>
            <a:ext cx="1971446" cy="164592"/>
          </a:xfrm>
          <a:prstGeom prst="roundRect">
            <a:avLst>
              <a:gd name="adj" fmla="val 11111"/>
            </a:avLst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81574" y="4251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AQI Gauge   ✅ 24hr Forecast   ✅ Source Attribution   ✅ Enforcement Priority   ✅ AI Health Advisory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Scale. Designed for Impact.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3383280"/>
          </a:xfrm>
          <a:prstGeom prst="roundRect">
            <a:avLst>
              <a:gd name="adj" fmla="val 2791"/>
            </a:avLst>
          </a:prstGeom>
          <a:solidFill>
            <a:srgbClr val="0A160A"/>
          </a:solidFill>
          <a:ln w="1270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813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755648"/>
            <a:ext cx="1691640" cy="0"/>
          </a:xfrm>
          <a:prstGeom prst="line">
            <a:avLst/>
          </a:prstGeom>
          <a:noFill/>
          <a:ln w="635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1305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dashboard, real-time state management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1363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visualization, forecast charts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CSS-in-JS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4142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 terminal aesthetic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1371600"/>
            <a:ext cx="1965960" cy="3383280"/>
          </a:xfrm>
          <a:prstGeom prst="roundRect">
            <a:avLst>
              <a:gd name="adj" fmla="val 2791"/>
            </a:avLst>
          </a:prstGeom>
          <a:solidFill>
            <a:srgbClr val="0A160A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14813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51760" y="1755648"/>
            <a:ext cx="1691640" cy="0"/>
          </a:xfrm>
          <a:prstGeom prst="line">
            <a:avLst/>
          </a:prstGeom>
          <a:noFill/>
          <a:ln w="6350">
            <a:solidFill>
              <a:srgbClr val="FFD600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24328" y="21305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REST API, &lt;2s response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24328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24328" y="31363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server, production-ready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24328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24328" y="4142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management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1965960" cy="3383280"/>
          </a:xfrm>
          <a:prstGeom prst="roundRect">
            <a:avLst>
              <a:gd name="adj" fmla="val 2791"/>
            </a:avLst>
          </a:prstGeom>
          <a:solidFill>
            <a:srgbClr val="0A160A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4813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/ LLM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1755648"/>
            <a:ext cx="1691640" cy="0"/>
          </a:xfrm>
          <a:prstGeom prst="line">
            <a:avLst/>
          </a:prstGeom>
          <a:noFill/>
          <a:ln w="6350">
            <a:solidFill>
              <a:srgbClr val="CE93D8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21305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advisory, multilingual NLP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73168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31363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pipeline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3168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Model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4142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 AQI time-series forecasting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12280" y="1371600"/>
            <a:ext cx="1965960" cy="3383280"/>
          </a:xfrm>
          <a:prstGeom prst="roundRect">
            <a:avLst>
              <a:gd name="adj" fmla="val 2791"/>
            </a:avLst>
          </a:prstGeom>
          <a:solidFill>
            <a:srgbClr val="0A160A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12280" y="148132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49440" y="1755648"/>
            <a:ext cx="1691640" cy="0"/>
          </a:xfrm>
          <a:prstGeom prst="line">
            <a:avLst/>
          </a:prstGeom>
          <a:noFill/>
          <a:ln w="6350">
            <a:solidFill>
              <a:srgbClr val="00C853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1874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/ OpenAQ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22008" y="21305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air quality sensor data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22008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Sentinel-5P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22008" y="31363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aerosol &amp; NO₂ data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22008" y="3886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/ OpenWeather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22008" y="4142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Meteorological forecast feeds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components open-source or free-tier API · Zero proprietary lock-in · Deployable on any cloud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&amp; 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VAYU·AI Wins on Business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20240" cy="1554480"/>
          </a:xfrm>
          <a:prstGeom prst="roundRect">
            <a:avLst>
              <a:gd name="adj" fmla="val 3529"/>
            </a:avLst>
          </a:prstGeom>
          <a:solidFill>
            <a:srgbClr val="0A160A"/>
          </a:solidFill>
          <a:ln w="12700">
            <a:solidFill>
              <a:srgbClr val="DD2C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D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deaths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annually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1371600"/>
            <a:ext cx="1920240" cy="1554480"/>
          </a:xfrm>
          <a:prstGeom prst="roundRect">
            <a:avLst>
              <a:gd name="adj" fmla="val 3529"/>
            </a:avLst>
          </a:prstGeom>
          <a:solidFill>
            <a:srgbClr val="0A160A"/>
          </a:solidFill>
          <a:ln w="127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20848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1554480"/>
          </a:xfrm>
          <a:prstGeom prst="roundRect">
            <a:avLst>
              <a:gd name="adj" fmla="val 3529"/>
            </a:avLst>
          </a:prstGeom>
          <a:solidFill>
            <a:srgbClr val="0A160A"/>
          </a:solidFill>
          <a:ln w="12700">
            <a:solidFill>
              <a:srgbClr val="40C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20848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forecast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12280" y="1371600"/>
            <a:ext cx="1920240" cy="1554480"/>
          </a:xfrm>
          <a:prstGeom prst="roundRect">
            <a:avLst>
              <a:gd name="adj" fmla="val 3529"/>
            </a:avLst>
          </a:prstGeom>
          <a:solidFill>
            <a:srgbClr val="0A160A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12280" y="208483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2186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City Administrators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547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enforcement action queue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8953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Evidence-backed inspector deployment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42428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Ward-level intervention scheduling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27832" y="310896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32186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Citizens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547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Health advisories in regional languages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38953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Vulnerability mapping for schools &amp; hospitals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42428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Pre-event AQI warnings 24hrs ahead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9904" y="310896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0A160A"/>
          </a:solidFill>
          <a:ln w="6350">
            <a:solidFill>
              <a:srgbClr val="4A7A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99632" y="32186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9F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CPCB / Government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547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Compliance gap detection automated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38953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Cross-city learning and benchmarking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9632" y="42428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NCAP target tracking in real time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SCALABILITY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National Platform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20240" cy="2926080"/>
          </a:xfrm>
          <a:prstGeom prst="roundRect">
            <a:avLst>
              <a:gd name="adj" fmla="val 2857"/>
            </a:avLst>
          </a:prstGeom>
          <a:solidFill>
            <a:srgbClr val="0A160A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81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6824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Prototype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645920" cy="0"/>
          </a:xfrm>
          <a:prstGeom prst="line">
            <a:avLst/>
          </a:prstGeom>
          <a:noFill/>
          <a:ln w="6350">
            <a:solidFill>
              <a:srgbClr val="00C853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29968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 dashboard 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2505456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cities, static 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980944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Claude AI advisory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345643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4-tab intelligence UI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371600"/>
            <a:ext cx="1920240" cy="2926080"/>
          </a:xfrm>
          <a:prstGeom prst="roundRect">
            <a:avLst>
              <a:gd name="adj" fmla="val 2857"/>
            </a:avLst>
          </a:prstGeom>
          <a:solidFill>
            <a:srgbClr val="0A160A"/>
          </a:solidFill>
          <a:ln w="7620">
            <a:solidFill>
              <a:srgbClr val="40C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1481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40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14600" y="16824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51760" y="1920240"/>
            <a:ext cx="1645920" cy="0"/>
          </a:xfrm>
          <a:prstGeom prst="line">
            <a:avLst/>
          </a:prstGeom>
          <a:noFill/>
          <a:ln w="6350">
            <a:solidFill>
              <a:srgbClr val="40C4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029968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OpenAQ live 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24328" y="2505456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FastAPI backend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24328" y="2980944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50+ cities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24328" y="345643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enforcement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1920240" cy="2926080"/>
          </a:xfrm>
          <a:prstGeom prst="roundRect">
            <a:avLst>
              <a:gd name="adj" fmla="val 2857"/>
            </a:avLst>
          </a:prstGeom>
          <a:solidFill>
            <a:srgbClr val="0A160A"/>
          </a:solidFill>
          <a:ln w="762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481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3440" y="16824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00600" y="1920240"/>
            <a:ext cx="1645920" cy="0"/>
          </a:xfrm>
          <a:prstGeom prst="line">
            <a:avLst/>
          </a:prstGeom>
          <a:noFill/>
          <a:ln w="6350">
            <a:solidFill>
              <a:srgbClr val="CE93D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029968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Satellite data fusion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2505456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LSTM forecast 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73168" y="2980944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CPCB API integration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345643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 app launch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1371600"/>
            <a:ext cx="1920240" cy="2926080"/>
          </a:xfrm>
          <a:prstGeom prst="roundRect">
            <a:avLst>
              <a:gd name="adj" fmla="val 2857"/>
            </a:avLst>
          </a:prstGeom>
          <a:solidFill>
            <a:srgbClr val="0A160A"/>
          </a:solidFill>
          <a:ln w="762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14813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12280" y="16824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49440" y="1920240"/>
            <a:ext cx="1645920" cy="0"/>
          </a:xfrm>
          <a:prstGeom prst="line">
            <a:avLst/>
          </a:prstGeom>
          <a:noFill/>
          <a:ln w="6350">
            <a:solidFill>
              <a:srgbClr val="FF6D00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2008" y="2029968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500+ CAAQMS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22008" y="2505456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12-language IVR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22008" y="2980944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GRAP auto-triggers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22008" y="345643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National dashboard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8600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3484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Cloud-native API design · Stateless microservices · Horizontal scaling ready · CPCB white-label deployable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VAYU·AI Qualifies for the Finale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8412480" cy="621792"/>
          </a:xfrm>
          <a:prstGeom prst="roundRect">
            <a:avLst>
              <a:gd name="adj" fmla="val 7353"/>
            </a:avLst>
          </a:prstGeom>
          <a:solidFill>
            <a:srgbClr val="0A160A"/>
          </a:solidFill>
          <a:ln w="1016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264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42646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426464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Indian platform combining CAAQMS + Satellite + LLM advisory in one unified urban intelligence layer. No comparable product exists.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8412480" cy="621792"/>
          </a:xfrm>
          <a:prstGeom prst="roundRect">
            <a:avLst>
              <a:gd name="adj" fmla="val 7353"/>
            </a:avLst>
          </a:prstGeom>
          <a:solidFill>
            <a:srgbClr val="0A160A"/>
          </a:solidFill>
          <a:ln w="10160">
            <a:solidFill>
              <a:srgbClr val="DD2C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1396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1396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D2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139696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addresses 1.67M annual deaths. Three clear deployment paths: CPCB, Municipal Corporations, Citizen apps. NCAP-compliant.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8412480" cy="621792"/>
          </a:xfrm>
          <a:prstGeom prst="roundRect">
            <a:avLst>
              <a:gd name="adj" fmla="val 7353"/>
            </a:avLst>
          </a:prstGeom>
          <a:solidFill>
            <a:srgbClr val="0A160A"/>
          </a:solidFill>
          <a:ln w="10160">
            <a:solidFill>
              <a:srgbClr val="40C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852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723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8529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85292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AI, real-time data fusion, LSTM forecasting, Claude LLM integration, FastAPI backend. Full working prototype.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493008"/>
            <a:ext cx="8412480" cy="621792"/>
          </a:xfrm>
          <a:prstGeom prst="roundRect">
            <a:avLst>
              <a:gd name="adj" fmla="val 7353"/>
            </a:avLst>
          </a:prstGeom>
          <a:solidFill>
            <a:srgbClr val="0A160A"/>
          </a:solidFill>
          <a:ln w="1016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7856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566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35661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Cloud-native. Stateless API. Designed for 500+ stations from day one. 12-language IVR roadmapped for national rollout.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621792"/>
          </a:xfrm>
          <a:prstGeom prst="roundRect">
            <a:avLst>
              <a:gd name="adj" fmla="val 7353"/>
            </a:avLst>
          </a:prstGeom>
          <a:solidFill>
            <a:srgbClr val="0A160A"/>
          </a:solidFill>
          <a:ln w="1016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4279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4988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42793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0" y="4279392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Terminal-aesthetic dashboard built for city officers. Intuitive tabs — Overview, Forecast, Sources, Enforcement. Live AI advisory.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01A00">
              <a:alpha val="60000"/>
            </a:srgbClr>
          </a:solidFill>
          <a:ln w="12700">
            <a:solidFill>
              <a:srgbClr val="050D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1188720"/>
            <a:ext cx="182880" cy="18288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50D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VAYU·AI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URBAN AIR QUALITY INTELLIGENCE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670048"/>
            <a:ext cx="4572000" cy="0"/>
          </a:xfrm>
          <a:prstGeom prst="line">
            <a:avLst/>
          </a:prstGeom>
          <a:noFill/>
          <a:ln w="6350">
            <a:solidFill>
              <a:srgbClr val="4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exists. The intelligence layer does not. VAYU·AI is that layer."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Kasanagottu Snehith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ECE · Institute of Aeronautical Engineering, Hyderabad · CGPA 7.71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github.com/KasanagottuSnehith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482803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4A7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AI HACKATHON 2026  ·  PROBLEM STATEMENT 5  ·  URBAN AIR QUALITY INTELLIGENCE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VAYU·AI — Urban Air Quality Intelligence</dc:title>
  <dc:subject>PptxGenJS Presentation</dc:subject>
  <dc:creator>Kasanagottu Snehith</dc:creator>
  <cp:lastModifiedBy>Kasanagottu Snehith</cp:lastModifiedBy>
  <cp:revision>1</cp:revision>
  <dcterms:created xsi:type="dcterms:W3CDTF">2026-06-26T06:44:21Z</dcterms:created>
  <dcterms:modified xsi:type="dcterms:W3CDTF">2026-06-26T06:44:21Z</dcterms:modified>
</cp:coreProperties>
</file>